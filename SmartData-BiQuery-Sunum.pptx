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9"/>
    <p:sldId id="278" r:id="rId10"/>
    <p:sldId id="279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6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Kampanya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25252"/>
                    </a:solidFill>
                    <a:latin typeface="Calibri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Türkiye Finans</c:v>
                </c:pt>
                <c:pt idx="1">
                  <c:v>Hayat Finans</c:v>
                </c:pt>
                <c:pt idx="2">
                  <c:v>Vakıf Katılım</c:v>
                </c:pt>
                <c:pt idx="3">
                  <c:v>Dünya Katılım</c:v>
                </c:pt>
                <c:pt idx="4">
                  <c:v>Albaraka Türk</c:v>
                </c:pt>
                <c:pt idx="5">
                  <c:v>Emlak Katılım</c:v>
                </c:pt>
                <c:pt idx="6">
                  <c:v>TOM Katılım</c:v>
                </c:pt>
                <c:pt idx="7">
                  <c:v>Kuveyt Türk</c:v>
                </c:pt>
                <c:pt idx="8">
                  <c:v>Ziraat Katılım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11</c:v>
                </c:pt>
                <c:pt idx="2">
                  <c:v>24</c:v>
                </c:pt>
                <c:pt idx="3">
                  <c:v>45</c:v>
                </c:pt>
                <c:pt idx="4">
                  <c:v>48</c:v>
                </c:pt>
                <c:pt idx="5">
                  <c:v>67</c:v>
                </c:pt>
                <c:pt idx="6">
                  <c:v>86</c:v>
                </c:pt>
                <c:pt idx="7">
                  <c:v>107</c:v>
                </c:pt>
                <c:pt idx="8">
                  <c:v>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FF-4D18-BE0A-08829C95D9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71717"/>
                </a:solidFill>
                <a:latin typeface="Calibri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Tür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B0-4F50-8D93-C0D0A16C4D50}"/>
              </c:ext>
            </c:extLst>
          </c:dPt>
          <c:dPt>
            <c:idx val="1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B0-4F50-8D93-C0D0A16C4D50}"/>
              </c:ext>
            </c:extLst>
          </c:dPt>
          <c:dPt>
            <c:idx val="2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B0-4F50-8D93-C0D0A16C4D50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B0-4F50-8D93-C0D0A16C4D50}"/>
              </c:ext>
            </c:extLst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B0-4F50-8D93-C0D0A16C4D5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B0-4F50-8D93-C0D0A16C4D5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B0-4F50-8D93-C0D0A16C4D5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5B0-4F50-8D93-C0D0A16C4D5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5B0-4F50-8D93-C0D0A16C4D5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5B0-4F50-8D93-C0D0A16C4D5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Kart kampanyası</c:v>
                </c:pt>
                <c:pt idx="1">
                  <c:v>Alışveriş puanı</c:v>
                </c:pt>
                <c:pt idx="2">
                  <c:v>Finansman</c:v>
                </c:pt>
                <c:pt idx="3">
                  <c:v>İndirim</c:v>
                </c:pt>
                <c:pt idx="4">
                  <c:v>Diğer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484</c:v>
                </c:pt>
                <c:pt idx="1">
                  <c:v>31</c:v>
                </c:pt>
                <c:pt idx="2">
                  <c:v>27</c:v>
                </c:pt>
                <c:pt idx="3">
                  <c:v>17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5B0-4F50-8D93-C0D0A16C4D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solidFill>
          <a:srgbClr val="FFFF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
              <a:solidFill>
                <a:srgbClr val="525252"/>
              </a:solidFill>
              <a:latin typeface="Calibri"/>
              <a:cs typeface="Calibri"/>
            </a:defRPr>
          </a:pPr>
          <a:endParaRPr lang="tr-T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421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banka çalışanı bugün 'en uygun konut finansmanı hangisi' sorusuna cevap vermek için on ayrı bankanın sitesini elle tarıyor. Biz bu işi otomatikleştirdik — ve yaptığımız her çıkarımın kaynağını gösterebiliyoruz. (~10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Soruyu yüksek sesle sor, bir saniye bekle. Cevap sonraki slaytta.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bu iş hâlâ elle yapılıyor? Çünkü katılım bankacılığının kendine ait bir dili var — faiz yerine kâr payı, kredi yerine finansman — ve bu dil her bankada farklı yazılıyor. Ekranda aynı oran üç farklı biçimde. Tek bir kıyas için on sayfa.
Cevabımız üç kelime: kanıtlanabilir, karşılaştırılabilir, kurum içi. Sırayla nedenlerini anlatacağım. (22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Sayı burada dev; sonraki slaytta grafiğe dönüşüyor.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sadece kazımak yetmiyor? Çünkü veri dengesiz. Dokuz bankadan 599 kampanya topladık, ama sağdaki halkaya bakın: portföyün yüzde 81'i kart kampanyası ve kart kampanyaları kâr payı oranı yayımlamaz.
Yani doğru bilgiyi bulmak için metni gerçekten ANLAMAK gerekiyor — nerede oran var, nerede yok. (25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sorunun cevabı sunumun teknik omurgası.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LLM'e tek başına güvenmiyoruz? Çünkü kâr payı oranı gibi bir alanda halüsinasyon kabul edilemez. Yanlış oran müşteriye yansır.
Bu yüzden kural katmanı önce çalışıyor — deterministik, aynı metin her zaman aynı sonuç. LLM yalnızca kuralın yakalayamadığı serbest ifadelerde devreye giriyor. Ve tamamen kapatılabiliyor; bu birazdanki kurum içi iddiasının temeli. (32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LLM'e tek başına güvenmiyoruz? Çünkü kâr payı oranı gibi bir alanda halüsinasyon kabul edilemez. Yanlış oran müşteriye yansır.
Bu yüzden kural katmanı önce çalışıyor — deterministik, aynı metin her zaman aynı sonuç. LLM yalnızca kuralın yakalayamadığı serbest ifadelerde devreye giriyor. Ve tamamen kapatılabiliyor; bu birazdanki kurum içi iddiasının temeli. (32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75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LLM'e tek başına güvenmiyoruz? Çünkü kâr payı oranı gibi bir alanda halüsinasyon kabul edilemez. Yanlış oran müşteriye yansır.
Bu yüzden kural katmanı önce çalışıyor — deterministik, aynı metin her zaman aynı sonuç. LLM yalnızca kuralın yakalayamadığı serbest ifadelerde devreye giriyor. Ve tamamen kapatılabiliyor; bu birazdanki kurum içi iddiasının temeli. (32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9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LLM'e tek başına güvenmiyoruz? Çünkü kâr payı oranı gibi bir alanda halüsinasyon kabul edilemez. Yanlış oran müşteriye yansır.
Bu yüzden kural katmanı önce çalışıyor — deterministik, aynı metin her zaman aynı sonuç. LLM yalnızca kuralın yakalayamadığı serbest ifadelerde devreye giriyor. Ve tamamen kapatılabiliyor; bu birazdanki kurum içi iddiasının temeli. (32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762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ÖNEMLİ BÖLÜM. Sorduktan sonra iki saniye bekle — jüri de bunu merak ediyor. (4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SUNUMUN EN ÖNEMLİ 40 SANİYESİ.
NEDEN bu sayıya güvenelim? Çoğu NLP çözümü bir sonuç verir ve 'güven bana' der. Biz her değerin kaynağını gösteriyoruz: metnin hangi ifadesinden, hangi yöntemle, ne güvenle çıkarıldı.
Bir banka için bu süs değil zorunluluk — denetim ekibi 'bu sayı nereden geldi' diye sorduğunda cevap bir tık uzakta. Ekrandaki örnek gerçek bir Albaraka metni; kesme işaretinden önce boşluk var, standart bir regex burada tökezler. (40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Klip 4,5 sn. 'İşte az önce anlattığım panel' deyip devam et. (6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Klip devam ediyor, metin değişti; kutu 3B düzlemde döndü. (6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Metrik dev geliyor, sonraki slaytta sol sütuna oturuyor (byChar — rakamlar döner).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Peki NE KADAR doğru? Bu sayıları iddia etmiyoruz, ölçüyoruz — üstelik ölçüm araçları boru hattının içinde, her çalıştırmada otomatik koşuyor.
İki yönden bakıyoruz: çıkardığımız değer metinde gerçekten var mı, ve metinde gösterge varken alanı boş mu bıraktık? Yedi alanın altısında kaçak sıfır. (30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Ürün bölümü. Video zaten gösterecek, hızlı geç. (3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Analist bununla NE YAPIYOR? Soldaki grafik en somut cevap: üç ürün, üç ayrı bant, aralarında hiç çakışma yok. Konut yüzde 2,90'dan başlıyor, ihtiyaç 4,99'a çıkıyor. Bu tabloyu elle çıkarmak saatler sürerdi.
Chatbot'ta aynı veri iki dille anlatılıyor: müşteriye sade, analiste pazar payı ve rakip boşluğu. Taksit tutarlarını biz hesaplamıyoruz — banka ne yayımladıysa o. (31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Klip 5 sn. Rapor aşağı kayıyor. (6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çekim sürüyor, metin değişti. (6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İKİNCİ EN ÖNEMLİ BÖLÜM. Bankacı jüri üyesi için satın alma şartı. (4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NEDEN bir banka bunu kurabilir? Çünkü veri kurumdan hiç çıkmıyor — ve bunu iddia etmiyoruz, gösteriyoruz.
Python'un ağ katmanını yamaladık; localhost dışına çıkan her bağlantı hata veriyor. Sonra şartnamenin KENDİ örnek metnini işledik. Sonuç ekranda: tek bir dış çağrı yapılmadan hepsi doğru çıkarıldı.
Bir banka için bu pazarlama cümlesi değil, satın alma şartı. (40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Kapsam eksiğimizi biliyoruz, sıradaki işimiz o. Teşekkürler. (10 sn)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kunye"/>
          <p:cNvSpPr/>
          <p:nvPr/>
        </p:nvSpPr>
        <p:spPr>
          <a:xfrm>
            <a:off x="3246120" y="5742432"/>
            <a:ext cx="5696712" cy="749808"/>
          </a:xfrm>
          <a:prstGeom prst="roundRect">
            <a:avLst>
              <a:gd name="adj" fmla="val 12195"/>
            </a:avLst>
          </a:prstGeom>
          <a:solidFill>
            <a:srgbClr val="071A2E">
              <a:alpha val="8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mrf_urunadi"/>
          <p:cNvSpPr txBox="1"/>
          <p:nvPr/>
        </p:nvSpPr>
        <p:spPr>
          <a:xfrm>
            <a:off x="3246120" y="580644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SmartData BiQuery</a:t>
            </a:r>
            <a:endParaRPr lang="en-US" sz="2100" dirty="0"/>
          </a:p>
        </p:txBody>
      </p:sp>
      <p:sp>
        <p:nvSpPr>
          <p:cNvPr id="4" name="mrf_slogan"/>
          <p:cNvSpPr txBox="1"/>
          <p:nvPr/>
        </p:nvSpPr>
        <p:spPr>
          <a:xfrm>
            <a:off x="3246120" y="6144768"/>
            <a:ext cx="5696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E2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Katılım bankacılığı için kanıtlanabilir kampanya zekâsı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PROBLEM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749808" y="2286000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Neden bu iş hâlâ elle yapılıyor?</a:t>
            </a:r>
            <a:endParaRPr lang="en-US" sz="60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900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PROBLEM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bu iş hâlâ elle yapılıyor?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Aynı bilgi, on farklı biçimde yazılıyor</a:t>
            </a:r>
            <a:endParaRPr lang="en-US" sz="3700" dirty="0"/>
          </a:p>
        </p:txBody>
      </p:sp>
      <p:sp>
        <p:nvSpPr>
          <p:cNvPr id="9" name="mrf_varyant0"/>
          <p:cNvSpPr/>
          <p:nvPr/>
        </p:nvSpPr>
        <p:spPr>
          <a:xfrm>
            <a:off x="749808" y="1883664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varyantMetin0"/>
          <p:cNvSpPr txBox="1"/>
          <p:nvPr/>
        </p:nvSpPr>
        <p:spPr>
          <a:xfrm>
            <a:off x="749808" y="202996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%1,89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59689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Bankası</a:t>
            </a:r>
            <a:endParaRPr lang="en-US" sz="1100" dirty="0"/>
          </a:p>
        </p:txBody>
      </p:sp>
      <p:sp>
        <p:nvSpPr>
          <p:cNvPr id="12" name="mrf_varyant1"/>
          <p:cNvSpPr/>
          <p:nvPr/>
        </p:nvSpPr>
        <p:spPr>
          <a:xfrm>
            <a:off x="3081528" y="1883664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mrf_varyantMetin1"/>
          <p:cNvSpPr txBox="1"/>
          <p:nvPr/>
        </p:nvSpPr>
        <p:spPr>
          <a:xfrm>
            <a:off x="3081528" y="202996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1.89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081528" y="259689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Bankası</a:t>
            </a:r>
            <a:endParaRPr lang="en-US" sz="1100" dirty="0"/>
          </a:p>
        </p:txBody>
      </p:sp>
      <p:sp>
        <p:nvSpPr>
          <p:cNvPr id="15" name="mrf_varyant2"/>
          <p:cNvSpPr/>
          <p:nvPr/>
        </p:nvSpPr>
        <p:spPr>
          <a:xfrm>
            <a:off x="5413248" y="1883664"/>
            <a:ext cx="2121408" cy="1207008"/>
          </a:xfrm>
          <a:prstGeom prst="roundRect">
            <a:avLst>
              <a:gd name="adj" fmla="val 6061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mrf_varyantMetin2"/>
          <p:cNvSpPr txBox="1"/>
          <p:nvPr/>
        </p:nvSpPr>
        <p:spPr>
          <a:xfrm>
            <a:off x="5413248" y="2029968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yüzde 1,89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5413248" y="259689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Bankası</a:t>
            </a:r>
            <a:endParaRPr lang="en-US" sz="1100" dirty="0"/>
          </a:p>
        </p:txBody>
      </p:sp>
      <p:sp>
        <p:nvSpPr>
          <p:cNvPr id="18" name="mrf_metrikKutu1"/>
          <p:cNvSpPr/>
          <p:nvPr/>
        </p:nvSpPr>
        <p:spPr>
          <a:xfrm>
            <a:off x="7699248" y="1700784"/>
            <a:ext cx="3739896" cy="969264"/>
          </a:xfrm>
          <a:prstGeom prst="roundRect">
            <a:avLst>
              <a:gd name="adj" fmla="val 754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mrf_sayi10"/>
          <p:cNvSpPr txBox="1"/>
          <p:nvPr/>
        </p:nvSpPr>
        <p:spPr>
          <a:xfrm>
            <a:off x="7863840" y="1737360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17171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10</a:t>
            </a:r>
            <a:endParaRPr lang="en-US" sz="4600" dirty="0"/>
          </a:p>
        </p:txBody>
      </p:sp>
      <p:sp>
        <p:nvSpPr>
          <p:cNvPr id="20" name="Text 17"/>
          <p:cNvSpPr txBox="1"/>
          <p:nvPr/>
        </p:nvSpPr>
        <p:spPr>
          <a:xfrm>
            <a:off x="9272016" y="19568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katılım bankası</a:t>
            </a:r>
            <a:endParaRPr lang="en-US" sz="1450" dirty="0"/>
          </a:p>
        </p:txBody>
      </p:sp>
      <p:sp>
        <p:nvSpPr>
          <p:cNvPr id="21" name="mrf_metrikKutu2"/>
          <p:cNvSpPr/>
          <p:nvPr/>
        </p:nvSpPr>
        <p:spPr>
          <a:xfrm>
            <a:off x="7699248" y="2761488"/>
            <a:ext cx="3739896" cy="969264"/>
          </a:xfrm>
          <a:prstGeom prst="roundRect">
            <a:avLst>
              <a:gd name="adj" fmla="val 754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mrf_sayiBuyuk"/>
          <p:cNvSpPr txBox="1"/>
          <p:nvPr/>
        </p:nvSpPr>
        <p:spPr>
          <a:xfrm>
            <a:off x="7863840" y="2798064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599</a:t>
            </a:r>
            <a:endParaRPr lang="en-US" sz="4600" dirty="0"/>
          </a:p>
        </p:txBody>
      </p:sp>
      <p:sp>
        <p:nvSpPr>
          <p:cNvPr id="23" name="mrf_sayiEtiket"/>
          <p:cNvSpPr txBox="1"/>
          <p:nvPr/>
        </p:nvSpPr>
        <p:spPr>
          <a:xfrm>
            <a:off x="9272016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kampanya metni</a:t>
            </a:r>
            <a:endParaRPr lang="en-US" sz="1450" dirty="0"/>
          </a:p>
        </p:txBody>
      </p:sp>
      <p:sp>
        <p:nvSpPr>
          <p:cNvPr id="24" name="mrf_serit"/>
          <p:cNvSpPr/>
          <p:nvPr/>
        </p:nvSpPr>
        <p:spPr>
          <a:xfrm>
            <a:off x="749808" y="3822192"/>
            <a:ext cx="10689336" cy="804672"/>
          </a:xfrm>
          <a:prstGeom prst="roundRect">
            <a:avLst>
              <a:gd name="adj" fmla="val 1136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mrf_seritMetin"/>
          <p:cNvSpPr txBox="1"/>
          <p:nvPr/>
        </p:nvSpPr>
        <p:spPr>
          <a:xfrm>
            <a:off x="749808" y="3822192"/>
            <a:ext cx="10689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Kanıtlanabilir</a:t>
            </a:r>
            <a:r>
              <a:rPr lang="en-US" sz="2000" dirty="0">
                <a:solidFill>
                  <a:srgbClr val="06B6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·   </a:t>
            </a: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Karşılaştırılabilir</a:t>
            </a:r>
            <a:r>
              <a:rPr lang="en-US" sz="2000" dirty="0">
                <a:solidFill>
                  <a:srgbClr val="06B6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 ·   </a:t>
            </a: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Kurum içi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749808" y="4864608"/>
            <a:ext cx="10689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analistin tek bir konut finansmanı kıyası için elle taraması gereken sayfa: 10+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Kaynak: BDDK katılım bankaları listesi · veri toplama Ağustos 2026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300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VERİ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749808" y="2286000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Neden sadece kazımak yetmiyor?</a:t>
            </a:r>
            <a:endParaRPr lang="en-US" sz="6000" dirty="0"/>
          </a:p>
        </p:txBody>
      </p:sp>
      <p:sp>
        <p:nvSpPr>
          <p:cNvPr id="7" name="mrf_sayiBuyuk"/>
          <p:cNvSpPr txBox="1"/>
          <p:nvPr/>
        </p:nvSpPr>
        <p:spPr>
          <a:xfrm>
            <a:off x="749808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599</a:t>
            </a:r>
            <a:endParaRPr lang="en-US" sz="7800" dirty="0"/>
          </a:p>
        </p:txBody>
      </p:sp>
      <p:sp>
        <p:nvSpPr>
          <p:cNvPr id="8" name="mrf_sayiEtiket"/>
          <p:cNvSpPr txBox="1"/>
          <p:nvPr/>
        </p:nvSpPr>
        <p:spPr>
          <a:xfrm>
            <a:off x="749808" y="5504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kampanya metni · 9 banka</a:t>
            </a:r>
            <a:endParaRPr lang="en-US" sz="1500" dirty="0"/>
          </a:p>
        </p:txBody>
      </p:sp>
      <p:pic>
        <p:nvPicPr>
          <p:cNvPr id="9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100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VERİ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sadece kazımak yetmiyor?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 geniş ama dengesiz</a:t>
            </a:r>
            <a:endParaRPr lang="en-US" sz="37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1627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2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BANKA BAŞINA KAMPANYA</a:t>
            </a:r>
            <a:endParaRPr lang="en-US" sz="9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749808" y="2029968"/>
          <a:ext cx="5486400" cy="3090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92240" y="1627632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2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KAMPANYA TÜRÜ DAĞILIMI</a:t>
            </a:r>
            <a:endParaRPr lang="en-US" sz="95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492240" y="2029968"/>
          <a:ext cx="4946904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mrf_koprü"/>
          <p:cNvSpPr/>
          <p:nvPr/>
        </p:nvSpPr>
        <p:spPr>
          <a:xfrm>
            <a:off x="6492240" y="4828032"/>
            <a:ext cx="4946904" cy="841248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93408" y="4828032"/>
            <a:ext cx="45445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Portföyün %81'i kart kampanyası — bunlar oran yayımlamaz. Kâr payı oranları bu yüzden finansman ürünlerinde toplanıyor.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bankada kampanya verisi · Adil Katılım sitesinde yayımlanmış kampanya yok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300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749808" y="2286000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Neden LLM'e tek başına güvenmiyoruz?</a:t>
            </a:r>
            <a:endParaRPr lang="en-US" sz="48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1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rf_dugum1"/>
          <p:cNvSpPr/>
          <p:nvPr/>
        </p:nvSpPr>
        <p:spPr>
          <a:xfrm>
            <a:off x="759387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LLM'e tek başına güvenmiyoruz?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Önce kural, sonra LLM</a:t>
            </a:r>
            <a:endParaRPr lang="en-US" sz="3700" dirty="0"/>
          </a:p>
        </p:txBody>
      </p:sp>
      <p:sp>
        <p:nvSpPr>
          <p:cNvPr id="9" name="mrf_dugum0"/>
          <p:cNvSpPr/>
          <p:nvPr/>
        </p:nvSpPr>
        <p:spPr>
          <a:xfrm>
            <a:off x="3674146" y="1911096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dugumAd0"/>
          <p:cNvSpPr txBox="1"/>
          <p:nvPr/>
        </p:nvSpPr>
        <p:spPr>
          <a:xfrm>
            <a:off x="87782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 metin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banka sayfası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mrf_dugumAd1"/>
          <p:cNvSpPr txBox="1"/>
          <p:nvPr/>
        </p:nvSpPr>
        <p:spPr>
          <a:xfrm>
            <a:off x="380390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Kural tabanlı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80390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~2.000 satır · deterministik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mrf_dugum2"/>
          <p:cNvSpPr/>
          <p:nvPr/>
        </p:nvSpPr>
        <p:spPr>
          <a:xfrm>
            <a:off x="660196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mrf_dugumAd2"/>
          <p:cNvSpPr txBox="1"/>
          <p:nvPr/>
        </p:nvSpPr>
        <p:spPr>
          <a:xfrm>
            <a:off x="672998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tamamlayıcı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998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yalnızca boş alanlar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mrf_dugum3"/>
          <p:cNvSpPr/>
          <p:nvPr/>
        </p:nvSpPr>
        <p:spPr>
          <a:xfrm>
            <a:off x="952804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mrf_dugumAd3"/>
          <p:cNvSpPr txBox="1"/>
          <p:nvPr/>
        </p:nvSpPr>
        <p:spPr>
          <a:xfrm>
            <a:off x="965606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Yapılandırılmış 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kanıtıyla birlikte</a:t>
            </a:r>
            <a:endParaRPr lang="en-US" sz="1050" dirty="0"/>
          </a:p>
        </p:txBody>
      </p:sp>
      <p:sp>
        <p:nvSpPr>
          <p:cNvPr id="24" name="mrf_switch"/>
          <p:cNvSpPr/>
          <p:nvPr/>
        </p:nvSpPr>
        <p:spPr>
          <a:xfrm>
            <a:off x="749808" y="3657600"/>
            <a:ext cx="5504688" cy="2414016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7552" y="3465576"/>
            <a:ext cx="5029200" cy="2855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200" b="1" dirty="0"/>
              <a:t>Kampanya dönemi içerisinde Avantajlı Hesap açan bireysel müşteriler, Hayat FX üzerinden gerçekleştirecekleri işlemlerde 5.000 USD veya karşılığı işlem hacmine kadar %0,1 dar makastan yararlanabilir.</a:t>
            </a:r>
          </a:p>
          <a:p>
            <a:r>
              <a:rPr lang="tr-TR" sz="1200" dirty="0"/>
              <a:t/>
            </a:r>
            <a:br>
              <a:rPr lang="tr-TR" sz="1200" dirty="0"/>
            </a:br>
            <a:r>
              <a:rPr lang="tr-TR" sz="1200" b="1" dirty="0"/>
              <a:t>📢 Kampanya Dönemi:</a:t>
            </a:r>
            <a:r>
              <a:rPr lang="tr-TR" sz="1200" dirty="0"/>
              <a:t> 17 Temmuz - 17 Eylül 2026</a:t>
            </a:r>
            <a:br>
              <a:rPr lang="tr-TR" sz="1200" dirty="0"/>
            </a:br>
            <a:r>
              <a:rPr lang="tr-TR" sz="1200" dirty="0"/>
              <a:t/>
            </a:r>
            <a:br>
              <a:rPr lang="tr-TR" sz="1200" dirty="0"/>
            </a:br>
            <a:r>
              <a:rPr lang="tr-TR" sz="1200" b="1" dirty="0"/>
              <a:t>✅ Kampanya Koşulları</a:t>
            </a:r>
            <a:r>
              <a:rPr lang="tr-TR" sz="1200" dirty="0"/>
              <a:t>Kampanyadan sadece 17 Temmuz 2026 sonrası yeni açılacak/açılan Avantajlı Hesap sahipleri faydalanabilir.</a:t>
            </a:r>
          </a:p>
          <a:p>
            <a:r>
              <a:rPr lang="tr-TR" sz="1200" dirty="0"/>
              <a:t>Kampanyaya sadece </a:t>
            </a:r>
            <a:r>
              <a:rPr lang="tr-TR" sz="1200" b="1" dirty="0"/>
              <a:t>Hayat Avantajlı Katılma Hesabı</a:t>
            </a:r>
            <a:r>
              <a:rPr lang="tr-TR" sz="1200" dirty="0"/>
              <a:t> dahil olup, TL Katılma Hesabı ve TL Günlük Hesap açılışları kampanyaya dahil değildir.</a:t>
            </a:r>
          </a:p>
        </p:txBody>
      </p:sp>
      <p:sp>
        <p:nvSpPr>
          <p:cNvPr id="27" name="mrf_norm"/>
          <p:cNvSpPr/>
          <p:nvPr/>
        </p:nvSpPr>
        <p:spPr>
          <a:xfrm>
            <a:off x="6620256" y="3657600"/>
            <a:ext cx="4818888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84848" y="376732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%2,05   ·   % 2.05   ·   yüzde 2,05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151376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2.05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Normalizasyon: para · oran · vade · tarih  |  Şartname 5.6 ve 5.8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3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LLM'e tek başına güvenmiyoruz?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Önce kural, sonra LLM</a:t>
            </a:r>
            <a:endParaRPr lang="en-US" sz="3700" dirty="0"/>
          </a:p>
        </p:txBody>
      </p:sp>
      <p:sp>
        <p:nvSpPr>
          <p:cNvPr id="9" name="mrf_dugum0"/>
          <p:cNvSpPr/>
          <p:nvPr/>
        </p:nvSpPr>
        <p:spPr>
          <a:xfrm>
            <a:off x="74980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dugumAd0"/>
          <p:cNvSpPr txBox="1"/>
          <p:nvPr/>
        </p:nvSpPr>
        <p:spPr>
          <a:xfrm>
            <a:off x="87782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 metin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banka sayfası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mrf_dugum1"/>
          <p:cNvSpPr/>
          <p:nvPr/>
        </p:nvSpPr>
        <p:spPr>
          <a:xfrm>
            <a:off x="367588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mrf_dugumAd1"/>
          <p:cNvSpPr txBox="1"/>
          <p:nvPr/>
        </p:nvSpPr>
        <p:spPr>
          <a:xfrm>
            <a:off x="380390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Kural tabanlı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80390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~2.000 satır · deterministik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mrf_dugum2"/>
          <p:cNvSpPr/>
          <p:nvPr/>
        </p:nvSpPr>
        <p:spPr>
          <a:xfrm>
            <a:off x="660196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mrf_dugumAd2"/>
          <p:cNvSpPr txBox="1"/>
          <p:nvPr/>
        </p:nvSpPr>
        <p:spPr>
          <a:xfrm>
            <a:off x="672998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tamamlayıcı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998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yalnızca boş alanlar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mrf_dugum3"/>
          <p:cNvSpPr/>
          <p:nvPr/>
        </p:nvSpPr>
        <p:spPr>
          <a:xfrm>
            <a:off x="952804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mrf_dugumAd3"/>
          <p:cNvSpPr txBox="1"/>
          <p:nvPr/>
        </p:nvSpPr>
        <p:spPr>
          <a:xfrm>
            <a:off x="965606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Yapılandırılmış 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kanıtıyla birlikte</a:t>
            </a:r>
            <a:endParaRPr lang="en-US" sz="1050" dirty="0"/>
          </a:p>
        </p:txBody>
      </p:sp>
      <p:sp>
        <p:nvSpPr>
          <p:cNvPr id="24" name="mrf_switch"/>
          <p:cNvSpPr/>
          <p:nvPr/>
        </p:nvSpPr>
        <p:spPr>
          <a:xfrm>
            <a:off x="749808" y="3657600"/>
            <a:ext cx="550468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9264" y="38039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FINAGENT_LLM=0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69264" y="41879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tamamen kapalı — sistem çalışmaya devam ediyor</a:t>
            </a:r>
            <a:endParaRPr lang="en-US" sz="1250" dirty="0"/>
          </a:p>
        </p:txBody>
      </p:sp>
      <p:sp>
        <p:nvSpPr>
          <p:cNvPr id="27" name="mrf_norm"/>
          <p:cNvSpPr/>
          <p:nvPr/>
        </p:nvSpPr>
        <p:spPr>
          <a:xfrm>
            <a:off x="6620256" y="3657600"/>
            <a:ext cx="4818888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84848" y="376732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%2,05   ·   % 2.05   ·   yüzde 2,05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151376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2.05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Normalizasyon: para · oran · vade · tarih  |  Şartname 5.6 ve 5.8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93944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3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rf_dugum2"/>
          <p:cNvSpPr/>
          <p:nvPr/>
        </p:nvSpPr>
        <p:spPr>
          <a:xfrm>
            <a:off x="3654988" y="1889760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LLM'e tek başına güvenmiyoruz?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Önce kural, sonra LLM</a:t>
            </a:r>
            <a:endParaRPr lang="en-US" sz="3700" dirty="0"/>
          </a:p>
        </p:txBody>
      </p:sp>
      <p:sp>
        <p:nvSpPr>
          <p:cNvPr id="9" name="mrf_dugum0"/>
          <p:cNvSpPr/>
          <p:nvPr/>
        </p:nvSpPr>
        <p:spPr>
          <a:xfrm>
            <a:off x="74980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dugumAd0"/>
          <p:cNvSpPr txBox="1"/>
          <p:nvPr/>
        </p:nvSpPr>
        <p:spPr>
          <a:xfrm>
            <a:off x="87782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 metin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banka sayfası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mrf_dugum1"/>
          <p:cNvSpPr/>
          <p:nvPr/>
        </p:nvSpPr>
        <p:spPr>
          <a:xfrm>
            <a:off x="6643769" y="1889760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mrf_dugumAd1"/>
          <p:cNvSpPr txBox="1"/>
          <p:nvPr/>
        </p:nvSpPr>
        <p:spPr>
          <a:xfrm>
            <a:off x="380390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Kural tabanlı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80390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~2.000 satır · deterministik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mrf_dugumAd2"/>
          <p:cNvSpPr txBox="1"/>
          <p:nvPr/>
        </p:nvSpPr>
        <p:spPr>
          <a:xfrm>
            <a:off x="672998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tamamlayıcı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998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yalnızca boş alanlar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mrf_dugum3"/>
          <p:cNvSpPr/>
          <p:nvPr/>
        </p:nvSpPr>
        <p:spPr>
          <a:xfrm>
            <a:off x="952804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mrf_dugumAd3"/>
          <p:cNvSpPr txBox="1"/>
          <p:nvPr/>
        </p:nvSpPr>
        <p:spPr>
          <a:xfrm>
            <a:off x="965606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Yapılandırılmış 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kanıtıyla birlikte</a:t>
            </a:r>
            <a:endParaRPr lang="en-US" sz="1050" dirty="0"/>
          </a:p>
        </p:txBody>
      </p:sp>
      <p:sp>
        <p:nvSpPr>
          <p:cNvPr id="24" name="mrf_switch"/>
          <p:cNvSpPr/>
          <p:nvPr/>
        </p:nvSpPr>
        <p:spPr>
          <a:xfrm>
            <a:off x="749808" y="3657600"/>
            <a:ext cx="550468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9264" y="380390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b="1" dirty="0">
                <a:solidFill>
                  <a:srgbClr val="0A67FF"/>
                </a:solidFill>
              </a:rPr>
              <a:t>"</a:t>
            </a:r>
            <a:r>
              <a:rPr lang="tr-TR" b="1" dirty="0">
                <a:solidFill>
                  <a:srgbClr val="0A67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temperature</a:t>
            </a:r>
            <a:r>
              <a:rPr lang="tr-TR" b="1" dirty="0">
                <a:solidFill>
                  <a:srgbClr val="0A67FF"/>
                </a:solidFill>
              </a:rPr>
              <a:t>": 0.0</a:t>
            </a:r>
          </a:p>
        </p:txBody>
      </p:sp>
      <p:sp>
        <p:nvSpPr>
          <p:cNvPr id="26" name="Text 23"/>
          <p:cNvSpPr txBox="1"/>
          <p:nvPr/>
        </p:nvSpPr>
        <p:spPr>
          <a:xfrm>
            <a:off x="969264" y="41879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</a:t>
            </a:r>
            <a:r>
              <a:rPr lang="tr-TR" sz="1250" dirty="0" smtClean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yaratıcılık kapalı – Halüsinasyon görmüyor</a:t>
            </a:r>
            <a:endParaRPr lang="en-US" sz="1250" dirty="0"/>
          </a:p>
        </p:txBody>
      </p:sp>
      <p:sp>
        <p:nvSpPr>
          <p:cNvPr id="27" name="mrf_norm"/>
          <p:cNvSpPr/>
          <p:nvPr/>
        </p:nvSpPr>
        <p:spPr>
          <a:xfrm>
            <a:off x="6620256" y="3657600"/>
            <a:ext cx="4818888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84848" y="376732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%2,05   ·   % 2.05   ·   yüzde 2,05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151376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2.05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Normalizasyon: para · oran · vade · tarih  |  Şartname 5.6 ve 5.8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71176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3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mrf_dugum2"/>
          <p:cNvSpPr/>
          <p:nvPr/>
        </p:nvSpPr>
        <p:spPr>
          <a:xfrm>
            <a:off x="6565392" y="1880181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mrf_dugum2"/>
          <p:cNvSpPr/>
          <p:nvPr/>
        </p:nvSpPr>
        <p:spPr>
          <a:xfrm>
            <a:off x="3654988" y="1889760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MİMARİ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LLM'e tek başına güvenmiyoruz?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Önce kural, sonra LLM</a:t>
            </a:r>
            <a:endParaRPr lang="en-US" sz="3700" dirty="0"/>
          </a:p>
        </p:txBody>
      </p:sp>
      <p:sp>
        <p:nvSpPr>
          <p:cNvPr id="9" name="mrf_dugum0"/>
          <p:cNvSpPr/>
          <p:nvPr/>
        </p:nvSpPr>
        <p:spPr>
          <a:xfrm>
            <a:off x="74980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mrf_dugumAd0"/>
          <p:cNvSpPr txBox="1"/>
          <p:nvPr/>
        </p:nvSpPr>
        <p:spPr>
          <a:xfrm>
            <a:off x="87782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 metin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banka sayfası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mrf_dugumAd1"/>
          <p:cNvSpPr txBox="1"/>
          <p:nvPr/>
        </p:nvSpPr>
        <p:spPr>
          <a:xfrm>
            <a:off x="380390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Kural tabanlı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80390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~2.000 satır · deterministik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mrf_dugumAd2"/>
          <p:cNvSpPr txBox="1"/>
          <p:nvPr/>
        </p:nvSpPr>
        <p:spPr>
          <a:xfrm>
            <a:off x="672998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tamamlayıcı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72998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yalnızca boş alanlar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1883664"/>
            <a:ext cx="384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E5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mrf_dugum3"/>
          <p:cNvSpPr/>
          <p:nvPr/>
        </p:nvSpPr>
        <p:spPr>
          <a:xfrm>
            <a:off x="9528048" y="1883664"/>
            <a:ext cx="2542032" cy="1426464"/>
          </a:xfrm>
          <a:prstGeom prst="roundRect">
            <a:avLst>
              <a:gd name="adj" fmla="val 512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mrf_dugumAd3"/>
          <p:cNvSpPr txBox="1"/>
          <p:nvPr/>
        </p:nvSpPr>
        <p:spPr>
          <a:xfrm>
            <a:off x="9656064" y="20665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Yapılandırılmış JSON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4" y="252374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kanıtıyla birlikte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69264" y="41879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27" name="mrf_norm"/>
          <p:cNvSpPr/>
          <p:nvPr/>
        </p:nvSpPr>
        <p:spPr>
          <a:xfrm>
            <a:off x="6620256" y="3657600"/>
            <a:ext cx="4818888" cy="109728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84848" y="3767328"/>
            <a:ext cx="4489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%2,05   ·   % 2.05   ·   yüzde 2,05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151376"/>
            <a:ext cx="4489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 2.05</a:t>
            </a:r>
            <a:endParaRPr lang="en-US" sz="21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Normalizasyon: para · oran · vade · tarih  |  Şartname 5.6 ve 5.8</a:t>
            </a:r>
            <a:endParaRPr lang="en-US" sz="1000" dirty="0"/>
          </a:p>
        </p:txBody>
      </p:sp>
      <p:pic>
        <p:nvPicPr>
          <p:cNvPr id="32" name="Resim 3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8" t="9340" r="10966" b="11557"/>
          <a:stretch/>
        </p:blipFill>
        <p:spPr>
          <a:xfrm>
            <a:off x="1136904" y="3547872"/>
            <a:ext cx="4861560" cy="249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602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30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KANIT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749808" y="2286000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Neden bu sayıya güvenelim?</a:t>
            </a:r>
            <a:endParaRPr lang="en-US" sz="60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100">
        <p159:morph option="byObject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KANIT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bu sayıya güvenelim?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Her değerin kaynağı görünür</a:t>
            </a:r>
            <a:endParaRPr lang="en-US" sz="37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1645920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Çoğu NLP çözümü sonucu verir ve “güven bana” der. Biz metnin hangi ifadesinden, hangi yöntemle, ne güvenle çıkardığımızı da gösteriyoruz.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2860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035808" y="22860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METINDEKI IFADE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607808" y="22860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DEĞER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208008" y="2286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YÖNTEM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442448" y="2286000"/>
            <a:ext cx="996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GÜVEN</a:t>
            </a:r>
            <a:endParaRPr lang="en-US" sz="950" dirty="0"/>
          </a:p>
        </p:txBody>
      </p:sp>
      <p:sp>
        <p:nvSpPr>
          <p:cNvPr id="15" name="mrf_kanitSatir0"/>
          <p:cNvSpPr/>
          <p:nvPr/>
        </p:nvSpPr>
        <p:spPr>
          <a:xfrm>
            <a:off x="749808" y="2651760"/>
            <a:ext cx="10689336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mrf_kanitHucre0"/>
          <p:cNvSpPr txBox="1"/>
          <p:nvPr/>
        </p:nvSpPr>
        <p:spPr>
          <a:xfrm>
            <a:off x="896112" y="2651760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kar_payi_orani</a:t>
            </a:r>
            <a:endParaRPr lang="en-US" sz="1150" dirty="0"/>
          </a:p>
        </p:txBody>
      </p:sp>
      <p:sp>
        <p:nvSpPr>
          <p:cNvPr id="17" name="mrf_kanitHucre1"/>
          <p:cNvSpPr txBox="1"/>
          <p:nvPr/>
        </p:nvSpPr>
        <p:spPr>
          <a:xfrm>
            <a:off x="3182112" y="2651760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“%2,87 'den başlayan kâr oranları”</a:t>
            </a:r>
            <a:endParaRPr lang="en-US" sz="1250" dirty="0"/>
          </a:p>
        </p:txBody>
      </p:sp>
      <p:sp>
        <p:nvSpPr>
          <p:cNvPr id="18" name="mrf_kanitHucre2"/>
          <p:cNvSpPr txBox="1"/>
          <p:nvPr/>
        </p:nvSpPr>
        <p:spPr>
          <a:xfrm>
            <a:off x="7754112" y="265176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2.87</a:t>
            </a:r>
            <a:endParaRPr lang="en-US" sz="1150" dirty="0"/>
          </a:p>
        </p:txBody>
      </p:sp>
      <p:sp>
        <p:nvSpPr>
          <p:cNvPr id="19" name="mrf_kanitHucre3"/>
          <p:cNvSpPr txBox="1"/>
          <p:nvPr/>
        </p:nvSpPr>
        <p:spPr>
          <a:xfrm>
            <a:off x="9354312" y="2651760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</a:t>
            </a:r>
            <a:endParaRPr lang="en-US" sz="1150" dirty="0"/>
          </a:p>
        </p:txBody>
      </p:sp>
      <p:sp>
        <p:nvSpPr>
          <p:cNvPr id="20" name="mrf_kanitHucre4"/>
          <p:cNvSpPr txBox="1"/>
          <p:nvPr/>
        </p:nvSpPr>
        <p:spPr>
          <a:xfrm>
            <a:off x="10588752" y="2651760"/>
            <a:ext cx="996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150" dirty="0"/>
          </a:p>
        </p:txBody>
      </p:sp>
      <p:sp>
        <p:nvSpPr>
          <p:cNvPr id="21" name="mrf_kanitSatir1"/>
          <p:cNvSpPr/>
          <p:nvPr/>
        </p:nvSpPr>
        <p:spPr>
          <a:xfrm>
            <a:off x="749808" y="3401568"/>
            <a:ext cx="10689336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6112" y="3401568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bitis_tarihi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182112" y="3401568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“31 Aralık 2026 tarihine kadar”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754112" y="3401568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2026-12-31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9354312" y="340156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01568"/>
            <a:ext cx="996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150" dirty="0"/>
          </a:p>
        </p:txBody>
      </p:sp>
      <p:sp>
        <p:nvSpPr>
          <p:cNvPr id="27" name="mrf_kanitSatir2"/>
          <p:cNvSpPr/>
          <p:nvPr/>
        </p:nvSpPr>
        <p:spPr>
          <a:xfrm>
            <a:off x="749808" y="4151376"/>
            <a:ext cx="10689336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96112" y="4151376"/>
            <a:ext cx="2139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kampanya_turu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3182112" y="4151376"/>
            <a:ext cx="4572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“konut finansmanı fırsatı”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754112" y="4151376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konut_finansmani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9354312" y="4151376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50" dirty="0" smtClean="0">
                <a:solidFill>
                  <a:srgbClr val="A3A3A3"/>
                </a:solidFill>
                <a:latin typeface="Consolas" pitchFamily="34" charset="0"/>
              </a:rPr>
              <a:t>LLM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10561320" y="4132435"/>
            <a:ext cx="996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749808" y="5650992"/>
            <a:ext cx="10689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Yanlış bir oran müşteriye yansırsa denetim ekibi “bu sayı nereden geldi” diye sorar. Cevap bir tık uzakta.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Arayüzde canlı: Tüm Kampanyalar → kampanya seç → Çıkarım Kanıtları paneli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40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KANIT</a:t>
            </a:r>
            <a:endParaRPr lang="en-US" sz="1050" dirty="0"/>
          </a:p>
        </p:txBody>
      </p:sp>
      <p:sp>
        <p:nvSpPr>
          <p:cNvPr id="6" name="mrf_soruKucuk"/>
          <p:cNvSpPr txBox="1"/>
          <p:nvPr/>
        </p:nvSpPr>
        <p:spPr>
          <a:xfrm>
            <a:off x="1408176" y="384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bu sayıya güvenelim?</a:t>
            </a:r>
            <a:endParaRPr lang="en-US" sz="1350" dirty="0"/>
          </a:p>
        </p:txBody>
      </p:sp>
      <p:sp>
        <p:nvSpPr>
          <p:cNvPr id="7" name="mrf_videoBaslik"/>
          <p:cNvSpPr txBox="1"/>
          <p:nvPr/>
        </p:nvSpPr>
        <p:spPr>
          <a:xfrm>
            <a:off x="749808" y="1335024"/>
            <a:ext cx="4224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Panel canlı sistemde</a:t>
            </a:r>
            <a:endParaRPr lang="en-US" sz="3300" dirty="0"/>
          </a:p>
        </p:txBody>
      </p:sp>
      <p:sp>
        <p:nvSpPr>
          <p:cNvPr id="8" name="mrf_videoAlt"/>
          <p:cNvSpPr txBox="1"/>
          <p:nvPr/>
        </p:nvSpPr>
        <p:spPr>
          <a:xfrm>
            <a:off x="749808" y="2871216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Kampanyayı seçtiğiniz anda her alan için tek satır açılıyor: hangi metin parçasından çıkarıldı, normalize değeri ne oldu.</a:t>
            </a:r>
            <a:endParaRPr lang="en-US" sz="1550" dirty="0"/>
          </a:p>
        </p:txBody>
      </p:sp>
      <p:sp>
        <p:nvSpPr>
          <p:cNvPr id="9" name="mrf_videoVurgu"/>
          <p:cNvSpPr txBox="1"/>
          <p:nvPr/>
        </p:nvSpPr>
        <p:spPr>
          <a:xfrm>
            <a:off x="749808" y="4736592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Ekrandaki kayıt gerçek, kurgu değil.</a:t>
            </a:r>
            <a:endParaRPr lang="en-US" sz="1350" dirty="0"/>
          </a:p>
        </p:txBody>
      </p:sp>
      <p:sp>
        <p:nvSpPr>
          <p:cNvPr id="10" name="mrf_videoGlow"/>
          <p:cNvSpPr/>
          <p:nvPr/>
        </p:nvSpPr>
        <p:spPr>
          <a:xfrm>
            <a:off x="4809744" y="1170432"/>
            <a:ext cx="6803136" cy="3968496"/>
          </a:xfrm>
          <a:prstGeom prst="roundRect">
            <a:avLst>
              <a:gd name="adj" fmla="val 230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584200" dist="50800" dir="5400000" algn="bl" rotWithShape="0">
              <a:srgbClr val="06B6D4">
                <a:alpha val="40000"/>
              </a:srgbClr>
            </a:outerShdw>
          </a:effectLst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sp>
        <p:nvSpPr>
          <p:cNvPr id="11" name="mrf_videoCerceve"/>
          <p:cNvSpPr/>
          <p:nvPr/>
        </p:nvSpPr>
        <p:spPr>
          <a:xfrm>
            <a:off x="4974336" y="1335024"/>
            <a:ext cx="6473952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blurRad="330200" dist="101600" dir="5400000" algn="bl" rotWithShape="0">
              <a:srgbClr val="1E3A5F">
                <a:alpha val="30000"/>
              </a:srgbClr>
            </a:outerShdw>
          </a:effectLst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pic>
        <p:nvPicPr>
          <p:cNvPr id="12" name="mrf_videoOynatic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38344" y="1399032"/>
            <a:ext cx="6345936" cy="3566160"/>
          </a:xfrm>
          <a:prstGeom prst="rect">
            <a:avLst/>
          </a:prstGeom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pic>
      <p:sp>
        <p:nvSpPr>
          <p:cNvPr id="13" name="Text 10"/>
          <p:cNvSpPr txBox="1"/>
          <p:nvPr/>
        </p:nvSpPr>
        <p:spPr>
          <a:xfrm>
            <a:off x="5212080" y="5358384"/>
            <a:ext cx="6473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3A3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canlı sistemden kayıt</a:t>
            </a:r>
            <a:endParaRPr lang="en-US" sz="1000" dirty="0"/>
          </a:p>
        </p:txBody>
      </p:sp>
      <p:pic>
        <p:nvPicPr>
          <p:cNvPr id="14" name="mrf_logo" descr="logo.png"/>
          <p:cNvPicPr>
            <a:picLocks noChangeAspect="1"/>
          </p:cNvPicPr>
          <p:nvPr/>
        </p:nvPicPr>
        <p:blipFill>
          <a:blip r:embed="rId7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2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KANIT</a:t>
            </a:r>
            <a:endParaRPr lang="en-US" sz="1050" dirty="0"/>
          </a:p>
        </p:txBody>
      </p:sp>
      <p:sp>
        <p:nvSpPr>
          <p:cNvPr id="6" name="mrf_soruKucuk"/>
          <p:cNvSpPr txBox="1"/>
          <p:nvPr/>
        </p:nvSpPr>
        <p:spPr>
          <a:xfrm>
            <a:off x="1408176" y="384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bu sayıya güvenelim?</a:t>
            </a:r>
            <a:endParaRPr lang="en-US" sz="1350" dirty="0"/>
          </a:p>
        </p:txBody>
      </p:sp>
      <p:sp>
        <p:nvSpPr>
          <p:cNvPr id="7" name="mrf_videoBaslik"/>
          <p:cNvSpPr txBox="1"/>
          <p:nvPr/>
        </p:nvSpPr>
        <p:spPr>
          <a:xfrm>
            <a:off x="749808" y="1335024"/>
            <a:ext cx="4224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Yöntem ve güven de görünüyor</a:t>
            </a:r>
            <a:endParaRPr lang="en-US" sz="3300" dirty="0"/>
          </a:p>
        </p:txBody>
      </p:sp>
      <p:sp>
        <p:nvSpPr>
          <p:cNvPr id="8" name="mrf_videoAlt"/>
          <p:cNvSpPr txBox="1"/>
          <p:nvPr/>
        </p:nvSpPr>
        <p:spPr>
          <a:xfrm>
            <a:off x="749808" y="2871216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Her satırda çıkarımın REGEX mi LLM mi olduğu ve güven skoru var. Düşük güvenli bir alan denetim ekibinin dikkatini hemen çekiyor.</a:t>
            </a:r>
            <a:endParaRPr lang="en-US" sz="1550" dirty="0"/>
          </a:p>
        </p:txBody>
      </p:sp>
      <p:sp>
        <p:nvSpPr>
          <p:cNvPr id="9" name="mrf_videoVurgu"/>
          <p:cNvSpPr txBox="1"/>
          <p:nvPr/>
        </p:nvSpPr>
        <p:spPr>
          <a:xfrm>
            <a:off x="749808" y="4736592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Kural ve LLM aynı tabloda, ayırt edilebilir.</a:t>
            </a:r>
            <a:endParaRPr lang="en-US" sz="1350" dirty="0"/>
          </a:p>
        </p:txBody>
      </p:sp>
      <p:sp>
        <p:nvSpPr>
          <p:cNvPr id="10" name="mrf_videoGlow"/>
          <p:cNvSpPr/>
          <p:nvPr/>
        </p:nvSpPr>
        <p:spPr>
          <a:xfrm>
            <a:off x="5285232" y="1170432"/>
            <a:ext cx="6803136" cy="3968496"/>
          </a:xfrm>
          <a:prstGeom prst="roundRect">
            <a:avLst>
              <a:gd name="adj" fmla="val 230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584200" dist="50800" dir="5400000" algn="bl" rotWithShape="0">
              <a:srgbClr val="06B6D4">
                <a:alpha val="40000"/>
              </a:srgbClr>
            </a:outerShdw>
          </a:effectLst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sp>
        <p:nvSpPr>
          <p:cNvPr id="11" name="mrf_videoCerceve"/>
          <p:cNvSpPr/>
          <p:nvPr/>
        </p:nvSpPr>
        <p:spPr>
          <a:xfrm>
            <a:off x="5449824" y="1335024"/>
            <a:ext cx="6473952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blurRad="330200" dist="101600" dir="5400000" algn="bl" rotWithShape="0">
              <a:srgbClr val="1E3A5F">
                <a:alpha val="30000"/>
              </a:srgbClr>
            </a:outerShdw>
          </a:effectLst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pic>
        <p:nvPicPr>
          <p:cNvPr id="12" name="mrf_videoOynatic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513832" y="1399032"/>
            <a:ext cx="6345936" cy="3566160"/>
          </a:xfrm>
          <a:prstGeom prst="rect">
            <a:avLst/>
          </a:prstGeom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pic>
      <p:sp>
        <p:nvSpPr>
          <p:cNvPr id="13" name="Text 10"/>
          <p:cNvSpPr txBox="1"/>
          <p:nvPr/>
        </p:nvSpPr>
        <p:spPr>
          <a:xfrm>
            <a:off x="5212080" y="5358384"/>
            <a:ext cx="6473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3A3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canlı sistemden kayıt</a:t>
            </a:r>
            <a:endParaRPr lang="en-US" sz="1000" dirty="0"/>
          </a:p>
        </p:txBody>
      </p:sp>
      <p:pic>
        <p:nvPicPr>
          <p:cNvPr id="14" name="mrf_logo" descr="logo.png"/>
          <p:cNvPicPr>
            <a:picLocks noChangeAspect="1"/>
          </p:cNvPicPr>
          <p:nvPr/>
        </p:nvPicPr>
        <p:blipFill>
          <a:blip r:embed="rId7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ÖLÇÜM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749808" y="2286000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Peki ne kadar doğru?</a:t>
            </a:r>
            <a:endParaRPr lang="en-US" sz="6000" dirty="0"/>
          </a:p>
        </p:txBody>
      </p:sp>
      <p:sp>
        <p:nvSpPr>
          <p:cNvPr id="7" name="mrf_sayiBuyuk"/>
          <p:cNvSpPr txBox="1"/>
          <p:nvPr/>
        </p:nvSpPr>
        <p:spPr>
          <a:xfrm>
            <a:off x="749808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%99,3</a:t>
            </a:r>
            <a:endParaRPr lang="en-US" sz="7800" dirty="0"/>
          </a:p>
        </p:txBody>
      </p:sp>
      <p:sp>
        <p:nvSpPr>
          <p:cNvPr id="8" name="mrf_sayiEtiket"/>
          <p:cNvSpPr txBox="1"/>
          <p:nvPr/>
        </p:nvSpPr>
        <p:spPr>
          <a:xfrm>
            <a:off x="749808" y="5504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çıkarım kesinliği</a:t>
            </a:r>
            <a:endParaRPr lang="en-US" sz="1500" dirty="0"/>
          </a:p>
        </p:txBody>
      </p:sp>
      <p:pic>
        <p:nvPicPr>
          <p:cNvPr id="9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100">
        <p159:morph option="byObject"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ÖLÇÜM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Peki ne kadar doğru?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İddia etmiyoruz, ölçüyoruz</a:t>
            </a:r>
            <a:endParaRPr lang="en-US" sz="3700" dirty="0"/>
          </a:p>
        </p:txBody>
      </p:sp>
      <p:sp>
        <p:nvSpPr>
          <p:cNvPr id="9" name="mrf_sayiBuyuk"/>
          <p:cNvSpPr txBox="1"/>
          <p:nvPr/>
        </p:nvSpPr>
        <p:spPr>
          <a:xfrm>
            <a:off x="749808" y="1847088"/>
            <a:ext cx="41148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%99,3</a:t>
            </a:r>
            <a:endParaRPr lang="en-US" sz="9200" dirty="0"/>
          </a:p>
        </p:txBody>
      </p:sp>
      <p:sp>
        <p:nvSpPr>
          <p:cNvPr id="10" name="mrf_sayiEtiket"/>
          <p:cNvSpPr txBox="1"/>
          <p:nvPr/>
        </p:nvSpPr>
        <p:spPr>
          <a:xfrm>
            <a:off x="749808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çıkarım kesinliği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67588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599 kayıtta yalnızca 4 kusur</a:t>
            </a:r>
            <a:endParaRPr lang="en-US" sz="1250" dirty="0"/>
          </a:p>
        </p:txBody>
      </p:sp>
      <p:sp>
        <p:nvSpPr>
          <p:cNvPr id="12" name="mrf_sinif"/>
          <p:cNvSpPr/>
          <p:nvPr/>
        </p:nvSpPr>
        <p:spPr>
          <a:xfrm>
            <a:off x="749808" y="4206240"/>
            <a:ext cx="4114800" cy="969264"/>
          </a:xfrm>
          <a:prstGeom prst="roundRect">
            <a:avLst>
              <a:gd name="adj" fmla="val 7547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43159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%99,5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2231136" y="427939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tür sınıflandırma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596 / 599 kayıt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1883664"/>
            <a:ext cx="5952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ALAN BAZINDA YAKALAMA (RECALL)</a:t>
            </a:r>
            <a:endParaRPr lang="en-US" sz="950" dirty="0"/>
          </a:p>
        </p:txBody>
      </p:sp>
      <p:sp>
        <p:nvSpPr>
          <p:cNvPr id="16" name="mrf_yakala0"/>
          <p:cNvSpPr/>
          <p:nvPr/>
        </p:nvSpPr>
        <p:spPr>
          <a:xfrm>
            <a:off x="5486400" y="2267712"/>
            <a:ext cx="5952744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05856" y="2267712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kâr payı oranı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9601200" y="2267712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04785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%100</a:t>
            </a:r>
            <a:endParaRPr lang="en-US" sz="1900" dirty="0"/>
          </a:p>
        </p:txBody>
      </p:sp>
      <p:sp>
        <p:nvSpPr>
          <p:cNvPr id="19" name="mrf_yakala1"/>
          <p:cNvSpPr/>
          <p:nvPr/>
        </p:nvSpPr>
        <p:spPr>
          <a:xfrm>
            <a:off x="5486400" y="3017520"/>
            <a:ext cx="5952744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05856" y="301752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vade · taksit · tutar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9601200" y="3017520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04785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%100</a:t>
            </a:r>
            <a:endParaRPr lang="en-US" sz="1900" dirty="0"/>
          </a:p>
        </p:txBody>
      </p:sp>
      <p:sp>
        <p:nvSpPr>
          <p:cNvPr id="22" name="mrf_yakala2"/>
          <p:cNvSpPr/>
          <p:nvPr/>
        </p:nvSpPr>
        <p:spPr>
          <a:xfrm>
            <a:off x="5486400" y="3767328"/>
            <a:ext cx="5952744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705856" y="376732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ödül · nakit iade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3767328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047857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%100</a:t>
            </a:r>
            <a:endParaRPr lang="en-US" sz="1900" dirty="0"/>
          </a:p>
        </p:txBody>
      </p:sp>
      <p:sp>
        <p:nvSpPr>
          <p:cNvPr id="25" name="mrf_yakala3"/>
          <p:cNvSpPr/>
          <p:nvPr/>
        </p:nvSpPr>
        <p:spPr>
          <a:xfrm>
            <a:off x="5486400" y="4517136"/>
            <a:ext cx="5952744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05856" y="4517136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bitiş tarihi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601200" y="4517136"/>
            <a:ext cx="1618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dirty="0">
                <a:solidFill>
                  <a:srgbClr val="A3A3A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%93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0" y="5321808"/>
            <a:ext cx="5952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Ölçüm araçları boru hattına gömülü — her çalıştırmada yeniden koşuyor.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nlp_denetle.py (kesinlik) · nlp_kacak.py (geri çağırma) · pipeline.py ADIM 3.5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Char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ÜRÜN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749808" y="2286000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Analist bununla ne yapıyor?</a:t>
            </a:r>
            <a:endParaRPr lang="en-US" sz="60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100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ÜRÜN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Analist bununla ne yapıyor?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banka, tek tabloda</a:t>
            </a:r>
            <a:endParaRPr lang="en-US" sz="37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170078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FİNANSMAN KÂR ORANI BANTLARI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250740" y="2103120"/>
            <a:ext cx="0" cy="2395728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76420" y="45171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755401" y="2103120"/>
            <a:ext cx="0" cy="2395728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81081" y="45171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%4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60062" y="2103120"/>
            <a:ext cx="0" cy="2395728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85742" y="45171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%5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215798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Konut finansmanı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21579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kayıt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041648" y="21579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%2,90 – %3,19</a:t>
            </a:r>
            <a:endParaRPr lang="en-US" sz="1350" dirty="0"/>
          </a:p>
        </p:txBody>
      </p:sp>
      <p:sp>
        <p:nvSpPr>
          <p:cNvPr id="19" name="mrf_bant0"/>
          <p:cNvSpPr/>
          <p:nvPr/>
        </p:nvSpPr>
        <p:spPr>
          <a:xfrm>
            <a:off x="1000274" y="2542032"/>
            <a:ext cx="726352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mrf_ort0"/>
          <p:cNvSpPr/>
          <p:nvPr/>
        </p:nvSpPr>
        <p:spPr>
          <a:xfrm>
            <a:off x="1207207" y="2503627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9987" y="27066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ort. %3,01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29626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Taşıt finansmanı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2560320" y="29626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kayıt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041648" y="29626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%3,21 – %3,39</a:t>
            </a:r>
            <a:endParaRPr lang="en-US" sz="1350" dirty="0"/>
          </a:p>
        </p:txBody>
      </p:sp>
      <p:sp>
        <p:nvSpPr>
          <p:cNvPr id="25" name="mrf_bant1"/>
          <p:cNvSpPr/>
          <p:nvPr/>
        </p:nvSpPr>
        <p:spPr>
          <a:xfrm>
            <a:off x="1776719" y="3346704"/>
            <a:ext cx="450839" cy="20116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mrf_ort1"/>
          <p:cNvSpPr/>
          <p:nvPr/>
        </p:nvSpPr>
        <p:spPr>
          <a:xfrm>
            <a:off x="1983652" y="3308299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366432" y="35112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ort. %3,32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49808" y="3767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İhtiyaç finansmanı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2560320" y="37673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 kayıt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041648" y="37673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%3,90 – %4,99</a:t>
            </a:r>
            <a:endParaRPr lang="en-US" sz="1350" dirty="0"/>
          </a:p>
        </p:txBody>
      </p:sp>
      <p:sp>
        <p:nvSpPr>
          <p:cNvPr id="31" name="mrf_bant2"/>
          <p:cNvSpPr/>
          <p:nvPr/>
        </p:nvSpPr>
        <p:spPr>
          <a:xfrm>
            <a:off x="3504935" y="4151376"/>
            <a:ext cx="2730080" cy="2011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mrf_ort2"/>
          <p:cNvSpPr/>
          <p:nvPr/>
        </p:nvSpPr>
        <p:spPr>
          <a:xfrm>
            <a:off x="4287940" y="4112971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670720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ort. %4,24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4809744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Üç bant birbiriyle çakışmıyor — ürün tipi oranı doğrudan belirliyor.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784848" y="1700784"/>
            <a:ext cx="4654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2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ÜRÜN YÜZEYLERİ</a:t>
            </a:r>
            <a:endParaRPr lang="en-US" sz="950" dirty="0"/>
          </a:p>
        </p:txBody>
      </p:sp>
      <p:sp>
        <p:nvSpPr>
          <p:cNvPr id="36" name="mrf_nokta0"/>
          <p:cNvSpPr/>
          <p:nvPr/>
        </p:nvSpPr>
        <p:spPr>
          <a:xfrm>
            <a:off x="6784848" y="2194560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8484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351776" y="2139696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Pazar Analizi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7351776" y="2468880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kriterde lider kampanya · sektör radarı · PNG/Excel/PDF</a:t>
            </a:r>
            <a:endParaRPr lang="en-US" sz="1150" dirty="0"/>
          </a:p>
        </p:txBody>
      </p:sp>
      <p:sp>
        <p:nvSpPr>
          <p:cNvPr id="40" name="mrf_nokta1"/>
          <p:cNvSpPr/>
          <p:nvPr/>
        </p:nvSpPr>
        <p:spPr>
          <a:xfrm>
            <a:off x="6784848" y="3236976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784848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351776" y="3182112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Çift persona chatbot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7351776" y="3511296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müşteri sade dil ↔ analist pazar payı ve rakip boşluğu</a:t>
            </a:r>
            <a:endParaRPr lang="en-US" sz="1150" dirty="0"/>
          </a:p>
        </p:txBody>
      </p:sp>
      <p:sp>
        <p:nvSpPr>
          <p:cNvPr id="44" name="mrf_nokta2"/>
          <p:cNvSpPr/>
          <p:nvPr/>
        </p:nvSpPr>
        <p:spPr>
          <a:xfrm>
            <a:off x="6784848" y="427939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784848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51776" y="4224528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Ortalama okları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7351776" y="4553712"/>
            <a:ext cx="4087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teklif ortalamanın altında mı üstünde mi, tek bakışta</a:t>
            </a:r>
            <a:endParaRPr lang="en-US" sz="1150" dirty="0"/>
          </a:p>
        </p:txBody>
      </p:sp>
      <p:sp>
        <p:nvSpPr>
          <p:cNvPr id="48" name="mrf_taksitNot"/>
          <p:cNvSpPr/>
          <p:nvPr/>
        </p:nvSpPr>
        <p:spPr>
          <a:xfrm>
            <a:off x="6784848" y="5230368"/>
            <a:ext cx="4654296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986016" y="523036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Taksit tutarları hesaplanmıyor — bankanın yayımladığı gerçek değer.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finansman ürünü · 4 banka · şartname 5.7 karşılaştırma kriterleri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300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ÜRÜN</a:t>
            </a:r>
            <a:endParaRPr lang="en-US" sz="1050" dirty="0"/>
          </a:p>
        </p:txBody>
      </p:sp>
      <p:sp>
        <p:nvSpPr>
          <p:cNvPr id="6" name="mrf_soruKucuk"/>
          <p:cNvSpPr txBox="1"/>
          <p:nvPr/>
        </p:nvSpPr>
        <p:spPr>
          <a:xfrm>
            <a:off x="1408176" y="384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Analist bununla ne yapıyor?</a:t>
            </a:r>
            <a:endParaRPr lang="en-US" sz="1350" dirty="0"/>
          </a:p>
        </p:txBody>
      </p:sp>
      <p:sp>
        <p:nvSpPr>
          <p:cNvPr id="7" name="mrf_videoBaslik"/>
          <p:cNvSpPr txBox="1"/>
          <p:nvPr/>
        </p:nvSpPr>
        <p:spPr>
          <a:xfrm>
            <a:off x="749808" y="1335024"/>
            <a:ext cx="4224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Analist raporu tek tıkla</a:t>
            </a:r>
            <a:endParaRPr lang="en-US" sz="3300" dirty="0"/>
          </a:p>
        </p:txBody>
      </p:sp>
      <p:sp>
        <p:nvSpPr>
          <p:cNvPr id="8" name="mrf_videoAlt"/>
          <p:cNvSpPr txBox="1"/>
          <p:nvPr/>
        </p:nvSpPr>
        <p:spPr>
          <a:xfrm>
            <a:off x="749808" y="2871216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Sohbet cevabı, kaynak satırlarıyla birlikte paylaşılabilir bir rapora dönüşüyor; Excel ve PDF olarak dışa aktarılıyor.</a:t>
            </a:r>
            <a:endParaRPr lang="en-US" sz="1550" dirty="0"/>
          </a:p>
        </p:txBody>
      </p:sp>
      <p:sp>
        <p:nvSpPr>
          <p:cNvPr id="9" name="mrf_videoVurgu"/>
          <p:cNvSpPr txBox="1"/>
          <p:nvPr/>
        </p:nvSpPr>
        <p:spPr>
          <a:xfrm>
            <a:off x="749808" y="4736592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Kampanya listesi, banka ve oran sütunlarıyla.</a:t>
            </a:r>
            <a:endParaRPr lang="en-US" sz="1350" dirty="0"/>
          </a:p>
        </p:txBody>
      </p:sp>
      <p:sp>
        <p:nvSpPr>
          <p:cNvPr id="10" name="mrf_videoGlow"/>
          <p:cNvSpPr/>
          <p:nvPr/>
        </p:nvSpPr>
        <p:spPr>
          <a:xfrm>
            <a:off x="4809744" y="1170432"/>
            <a:ext cx="6803136" cy="3968496"/>
          </a:xfrm>
          <a:prstGeom prst="roundRect">
            <a:avLst>
              <a:gd name="adj" fmla="val 230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584200" dist="50800" dir="5400000" algn="bl" rotWithShape="0">
              <a:srgbClr val="06B6D4">
                <a:alpha val="40000"/>
              </a:srgbClr>
            </a:outerShdw>
          </a:effectLst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sp>
        <p:nvSpPr>
          <p:cNvPr id="11" name="mrf_videoCerceve"/>
          <p:cNvSpPr/>
          <p:nvPr/>
        </p:nvSpPr>
        <p:spPr>
          <a:xfrm>
            <a:off x="4974336" y="1335024"/>
            <a:ext cx="6473952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blurRad="330200" dist="101600" dir="5400000" algn="bl" rotWithShape="0">
              <a:srgbClr val="1E3A5F">
                <a:alpha val="30000"/>
              </a:srgbClr>
            </a:outerShdw>
          </a:effectLst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pic>
        <p:nvPicPr>
          <p:cNvPr id="12" name="mrf_videoOynatic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038344" y="1399032"/>
            <a:ext cx="6345936" cy="3566160"/>
          </a:xfrm>
          <a:prstGeom prst="rect">
            <a:avLst/>
          </a:prstGeom>
          <a:scene3d>
            <a:camera prst="perspectiveFront" fov="2700000">
              <a:rot lat="240000" lon="2106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pic>
      <p:sp>
        <p:nvSpPr>
          <p:cNvPr id="13" name="Text 10"/>
          <p:cNvSpPr txBox="1"/>
          <p:nvPr/>
        </p:nvSpPr>
        <p:spPr>
          <a:xfrm>
            <a:off x="5212080" y="5358384"/>
            <a:ext cx="6473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3A3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canlı sistemden kayıt</a:t>
            </a:r>
            <a:endParaRPr lang="en-US" sz="1000" dirty="0"/>
          </a:p>
        </p:txBody>
      </p:sp>
      <p:pic>
        <p:nvPicPr>
          <p:cNvPr id="14" name="mrf_logo" descr="logo.png"/>
          <p:cNvPicPr>
            <a:picLocks noChangeAspect="1"/>
          </p:cNvPicPr>
          <p:nvPr/>
        </p:nvPicPr>
        <p:blipFill>
          <a:blip r:embed="rId7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2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ÜRÜN</a:t>
            </a:r>
            <a:endParaRPr lang="en-US" sz="1050" dirty="0"/>
          </a:p>
        </p:txBody>
      </p:sp>
      <p:sp>
        <p:nvSpPr>
          <p:cNvPr id="6" name="mrf_soruKucuk"/>
          <p:cNvSpPr txBox="1"/>
          <p:nvPr/>
        </p:nvSpPr>
        <p:spPr>
          <a:xfrm>
            <a:off x="1408176" y="38404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Analist bununla ne yapıyor?</a:t>
            </a:r>
            <a:endParaRPr lang="en-US" sz="1350" dirty="0"/>
          </a:p>
        </p:txBody>
      </p:sp>
      <p:sp>
        <p:nvSpPr>
          <p:cNvPr id="7" name="mrf_videoBaslik"/>
          <p:cNvSpPr txBox="1"/>
          <p:nvPr/>
        </p:nvSpPr>
        <p:spPr>
          <a:xfrm>
            <a:off x="749808" y="1335024"/>
            <a:ext cx="4224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Yorum da raporun içinde</a:t>
            </a:r>
            <a:endParaRPr lang="en-US" sz="3300" dirty="0"/>
          </a:p>
        </p:txBody>
      </p:sp>
      <p:sp>
        <p:nvSpPr>
          <p:cNvPr id="8" name="mrf_videoAlt"/>
          <p:cNvSpPr txBox="1"/>
          <p:nvPr/>
        </p:nvSpPr>
        <p:spPr>
          <a:xfrm>
            <a:off x="749808" y="2871216"/>
            <a:ext cx="4224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525252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Rapor yalnızca tablo değil: hangi bankanın hangi aralıkta olduğu ve verinin nerede eksik kaldığı da yazılı geliyor.</a:t>
            </a:r>
            <a:endParaRPr lang="en-US" sz="1550" dirty="0"/>
          </a:p>
        </p:txBody>
      </p:sp>
      <p:sp>
        <p:nvSpPr>
          <p:cNvPr id="9" name="mrf_videoVurgu"/>
          <p:cNvSpPr txBox="1"/>
          <p:nvPr/>
        </p:nvSpPr>
        <p:spPr>
          <a:xfrm>
            <a:off x="749808" y="4736592"/>
            <a:ext cx="4224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Eksik veriyi saklamıyor, açıkça söylüyor.</a:t>
            </a:r>
            <a:endParaRPr lang="en-US" sz="1350" dirty="0"/>
          </a:p>
        </p:txBody>
      </p:sp>
      <p:sp>
        <p:nvSpPr>
          <p:cNvPr id="10" name="mrf_videoGlow"/>
          <p:cNvSpPr/>
          <p:nvPr/>
        </p:nvSpPr>
        <p:spPr>
          <a:xfrm>
            <a:off x="5285232" y="1170432"/>
            <a:ext cx="6803136" cy="3968496"/>
          </a:xfrm>
          <a:prstGeom prst="roundRect">
            <a:avLst>
              <a:gd name="adj" fmla="val 2304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584200" dist="50800" dir="5400000" algn="bl" rotWithShape="0">
              <a:srgbClr val="06B6D4">
                <a:alpha val="40000"/>
              </a:srgbClr>
            </a:outerShdw>
          </a:effectLst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sp>
        <p:nvSpPr>
          <p:cNvPr id="11" name="mrf_videoCerceve"/>
          <p:cNvSpPr/>
          <p:nvPr/>
        </p:nvSpPr>
        <p:spPr>
          <a:xfrm>
            <a:off x="5449824" y="1335024"/>
            <a:ext cx="6473952" cy="3639312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15875">
            <a:solidFill>
              <a:srgbClr val="CFE0F5"/>
            </a:solidFill>
            <a:prstDash val="solid"/>
          </a:ln>
          <a:effectLst>
            <a:outerShdw blurRad="330200" dist="101600" dir="5400000" algn="bl" rotWithShape="0">
              <a:srgbClr val="1E3A5F">
                <a:alpha val="30000"/>
              </a:srgbClr>
            </a:outerShdw>
          </a:effectLst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sp>
      <p:pic>
        <p:nvPicPr>
          <p:cNvPr id="12" name="mrf_videoOynatic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513832" y="1399032"/>
            <a:ext cx="6345936" cy="3566160"/>
          </a:xfrm>
          <a:prstGeom prst="rect">
            <a:avLst/>
          </a:prstGeom>
          <a:scene3d>
            <a:camera prst="perspectiveFront" fov="2700000">
              <a:rot lat="21360000" lon="540000" rev="0"/>
            </a:camera>
            <a:lightRig rig="threePt" dir="t">
              <a:rot lat="0" lon="0" rev="1200000"/>
            </a:lightRig>
          </a:scene3d>
          <a:sp3d prstMaterial="matte">
            <a:bevelT w="12700" h="12700"/>
          </a:sp3d>
        </p:spPr>
      </p:pic>
      <p:sp>
        <p:nvSpPr>
          <p:cNvPr id="13" name="Text 10"/>
          <p:cNvSpPr txBox="1"/>
          <p:nvPr/>
        </p:nvSpPr>
        <p:spPr>
          <a:xfrm>
            <a:off x="5212080" y="5358384"/>
            <a:ext cx="6473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3A3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canlı sistemden kayıt</a:t>
            </a:r>
            <a:endParaRPr lang="en-US" sz="1000" dirty="0"/>
          </a:p>
        </p:txBody>
      </p:sp>
      <p:pic>
        <p:nvPicPr>
          <p:cNvPr id="14" name="mrf_logo" descr="logo.png"/>
          <p:cNvPicPr>
            <a:picLocks noChangeAspect="1"/>
          </p:cNvPicPr>
          <p:nvPr/>
        </p:nvPicPr>
        <p:blipFill>
          <a:blip r:embed="rId7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6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4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kern="0" spc="24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KURUM İÇİ</a:t>
            </a:r>
            <a:endParaRPr lang="en-US" sz="1150" dirty="0"/>
          </a:p>
        </p:txBody>
      </p:sp>
      <p:sp>
        <p:nvSpPr>
          <p:cNvPr id="6" name="mrf_soru"/>
          <p:cNvSpPr txBox="1"/>
          <p:nvPr/>
        </p:nvSpPr>
        <p:spPr>
          <a:xfrm>
            <a:off x="749808" y="2286000"/>
            <a:ext cx="106893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Neden bir banka </a:t>
            </a:r>
            <a:r>
              <a:rPr lang="en-US" sz="6000" dirty="0" err="1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bunu</a:t>
            </a:r>
            <a:r>
              <a:rPr lang="en-US" sz="6000" dirty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 </a:t>
            </a:r>
            <a:r>
              <a:rPr lang="en-US" sz="6000" dirty="0" smtClean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ku</a:t>
            </a:r>
            <a:r>
              <a:rPr lang="tr-TR" sz="6000" dirty="0" smtClean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llanmalı</a:t>
            </a:r>
            <a:r>
              <a:rPr lang="en-US" sz="6000" dirty="0" smtClean="0">
                <a:solidFill>
                  <a:srgbClr val="0F172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?</a:t>
            </a:r>
            <a:endParaRPr lang="en-US" sz="6000" dirty="0"/>
          </a:p>
        </p:txBody>
      </p:sp>
      <p:pic>
        <p:nvPicPr>
          <p:cNvPr id="7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100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bolumNo"/>
          <p:cNvSpPr txBox="1"/>
          <p:nvPr/>
        </p:nvSpPr>
        <p:spPr>
          <a:xfrm>
            <a:off x="869594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kern="0" spc="240" dirty="0">
                <a:solidFill>
                  <a:srgbClr val="A3A3A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KURUM İÇİ</a:t>
            </a:r>
            <a:endParaRPr lang="en-US" sz="1050" dirty="0"/>
          </a:p>
        </p:txBody>
      </p:sp>
      <p:pic>
        <p:nvPicPr>
          <p:cNvPr id="3" name="mrf_logo" descr="logo.png"/>
          <p:cNvPicPr>
            <a:picLocks noChangeAspect="1"/>
          </p:cNvPicPr>
          <p:nvPr/>
        </p:nvPicPr>
        <p:blipFill>
          <a:blip r:embed="rId4">
            <a:alphaModFix amt="88000"/>
          </a:blip>
          <a:stretch>
            <a:fillRect/>
          </a:stretch>
        </p:blipFill>
        <p:spPr>
          <a:xfrm>
            <a:off x="9957816" y="6144768"/>
            <a:ext cx="1481328" cy="457200"/>
          </a:xfrm>
          <a:prstGeom prst="rect">
            <a:avLst/>
          </a:prstGeom>
        </p:spPr>
      </p:pic>
      <p:sp>
        <p:nvSpPr>
          <p:cNvPr id="4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mrf_soruKucuk"/>
          <p:cNvSpPr txBox="1"/>
          <p:nvPr/>
        </p:nvSpPr>
        <p:spPr>
          <a:xfrm>
            <a:off x="1408176" y="384048"/>
            <a:ext cx="10030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Neden bir banka bunu kurabilir?</a:t>
            </a:r>
            <a:endParaRPr lang="en-US" sz="1350" dirty="0"/>
          </a:p>
        </p:txBody>
      </p:sp>
      <p:sp>
        <p:nvSpPr>
          <p:cNvPr id="8" name="mrf_baslik"/>
          <p:cNvSpPr txBox="1"/>
          <p:nvPr/>
        </p:nvSpPr>
        <p:spPr>
          <a:xfrm>
            <a:off x="749808" y="932688"/>
            <a:ext cx="10689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700" dirty="0">
                <a:solidFill>
                  <a:srgbClr val="17171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Veri kurumdan hiç çıkmıyor</a:t>
            </a:r>
            <a:endParaRPr lang="en-US" sz="3700" dirty="0"/>
          </a:p>
        </p:txBody>
      </p:sp>
      <p:sp>
        <p:nvSpPr>
          <p:cNvPr id="9" name="mrf_madde0"/>
          <p:cNvSpPr/>
          <p:nvPr/>
        </p:nvSpPr>
        <p:spPr>
          <a:xfrm>
            <a:off x="749808" y="182880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18288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53312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Kurum içi sunucuda çalıştırılabilir</a:t>
            </a:r>
            <a:endParaRPr lang="en-US" sz="1300" dirty="0"/>
          </a:p>
        </p:txBody>
      </p:sp>
      <p:sp>
        <p:nvSpPr>
          <p:cNvPr id="12" name="mrf_madde1"/>
          <p:cNvSpPr/>
          <p:nvPr/>
        </p:nvSpPr>
        <p:spPr>
          <a:xfrm>
            <a:off x="749808" y="2542032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54203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353312" y="25420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 güvenliği — ticari LLM sağlayıcı yok</a:t>
            </a:r>
            <a:endParaRPr lang="en-US" sz="1300" dirty="0"/>
          </a:p>
        </p:txBody>
      </p:sp>
      <p:sp>
        <p:nvSpPr>
          <p:cNvPr id="15" name="mrf_madde2"/>
          <p:cNvSpPr/>
          <p:nvPr/>
        </p:nvSpPr>
        <p:spPr>
          <a:xfrm>
            <a:off x="749808" y="3255264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3255264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53312" y="32552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Verilerin kurum dışına çıkmaması</a:t>
            </a:r>
            <a:endParaRPr lang="en-US" sz="1300" dirty="0"/>
          </a:p>
        </p:txBody>
      </p:sp>
      <p:sp>
        <p:nvSpPr>
          <p:cNvPr id="18" name="mrf_madde3"/>
          <p:cNvSpPr/>
          <p:nvPr/>
        </p:nvSpPr>
        <p:spPr>
          <a:xfrm>
            <a:off x="749808" y="3968496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96849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353312" y="39684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Dış servise bağımlı olmadan çalışma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" y="4718304"/>
            <a:ext cx="5349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Şartname 5.9 — dört maddenin dördü</a:t>
            </a:r>
            <a:endParaRPr lang="en-US" sz="1150" dirty="0"/>
          </a:p>
        </p:txBody>
      </p:sp>
      <p:sp>
        <p:nvSpPr>
          <p:cNvPr id="22" name="mrf_terminal"/>
          <p:cNvSpPr/>
          <p:nvPr/>
        </p:nvSpPr>
        <p:spPr>
          <a:xfrm>
            <a:off x="6537960" y="1828800"/>
            <a:ext cx="4901184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48272" y="1938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dış ağ engelli  ·  LLM kapalı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748272" y="2286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%1,89 kâr payı oranı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931152" y="2542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kar_payi_orani = 1.89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748272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Aralık 2026 tarihine kadar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931152" y="31455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bitis_tarihi   = 2026-12-31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748272" y="34930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konut finansmanı fırsatı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6931152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kampanya_turu  = konut_finansmani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748272" y="40965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50.000 TL · 120 aya kadar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6931152" y="43525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50000.0  ·  120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748272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 bir dış çağrı yapılmadı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49808" y="5358384"/>
            <a:ext cx="10689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1717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Yerel moda geçmek kod değişikliği gerektirmiyor — LLM, embedding ve vektör adreslerinin üçü de ortam değişkeni.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749808" y="6236208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3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İşlenen metin şartnamenin kendi örneği (s.10, A Bankası konut finansmanı)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400">
        <p159:morph option="byObject"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rf_marka0"/>
          <p:cNvSpPr/>
          <p:nvPr/>
        </p:nvSpPr>
        <p:spPr>
          <a:xfrm>
            <a:off x="749808" y="457200"/>
            <a:ext cx="118872" cy="118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mrf_marka1"/>
          <p:cNvSpPr/>
          <p:nvPr/>
        </p:nvSpPr>
        <p:spPr>
          <a:xfrm>
            <a:off x="905256" y="457200"/>
            <a:ext cx="118872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mrf_marka2"/>
          <p:cNvSpPr/>
          <p:nvPr/>
        </p:nvSpPr>
        <p:spPr>
          <a:xfrm>
            <a:off x="1060704" y="457200"/>
            <a:ext cx="118872" cy="1188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mrf_serit"/>
          <p:cNvSpPr/>
          <p:nvPr/>
        </p:nvSpPr>
        <p:spPr>
          <a:xfrm>
            <a:off x="749808" y="1975104"/>
            <a:ext cx="10689336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7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mrf_seritMetin"/>
          <p:cNvSpPr txBox="1"/>
          <p:nvPr/>
        </p:nvSpPr>
        <p:spPr>
          <a:xfrm>
            <a:off x="749808" y="1975104"/>
            <a:ext cx="10689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Kanıtlanabilir</a:t>
            </a:r>
            <a:r>
              <a:rPr lang="en-US" sz="3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3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Karşılaştırılabilir</a:t>
            </a:r>
            <a:r>
              <a:rPr lang="en-US" sz="3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</a:t>
            </a:r>
            <a:r>
              <a:rPr lang="en-US" sz="3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Kurum içi</a:t>
            </a:r>
            <a:endParaRPr lang="en-US" sz="3100" dirty="0"/>
          </a:p>
        </p:txBody>
      </p:sp>
      <p:sp>
        <p:nvSpPr>
          <p:cNvPr id="7" name="mrf_sayiBuyuk"/>
          <p:cNvSpPr txBox="1"/>
          <p:nvPr/>
        </p:nvSpPr>
        <p:spPr>
          <a:xfrm>
            <a:off x="749808" y="3602736"/>
            <a:ext cx="26723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599</a:t>
            </a:r>
            <a:endParaRPr lang="en-US" sz="3800" dirty="0"/>
          </a:p>
        </p:txBody>
      </p:sp>
      <p:sp>
        <p:nvSpPr>
          <p:cNvPr id="8" name="mrf_sayiEtiket"/>
          <p:cNvSpPr txBox="1"/>
          <p:nvPr/>
        </p:nvSpPr>
        <p:spPr>
          <a:xfrm>
            <a:off x="749808" y="4169664"/>
            <a:ext cx="26723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kampanya</a:t>
            </a:r>
            <a:endParaRPr lang="en-US" sz="1250" dirty="0"/>
          </a:p>
        </p:txBody>
      </p:sp>
      <p:sp>
        <p:nvSpPr>
          <p:cNvPr id="9" name="mrf_kunyeSayi1"/>
          <p:cNvSpPr txBox="1"/>
          <p:nvPr/>
        </p:nvSpPr>
        <p:spPr>
          <a:xfrm>
            <a:off x="3422142" y="3602736"/>
            <a:ext cx="26723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%99,3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22142" y="4169664"/>
            <a:ext cx="26723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kesinlik</a:t>
            </a:r>
            <a:endParaRPr lang="en-US" sz="1250" dirty="0"/>
          </a:p>
        </p:txBody>
      </p:sp>
      <p:sp>
        <p:nvSpPr>
          <p:cNvPr id="11" name="mrf_kunyeSayi2"/>
          <p:cNvSpPr txBox="1"/>
          <p:nvPr/>
        </p:nvSpPr>
        <p:spPr>
          <a:xfrm>
            <a:off x="6094476" y="3602736"/>
            <a:ext cx="26723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0,2 sn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094476" y="4169664"/>
            <a:ext cx="26723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ilk yanıt</a:t>
            </a:r>
            <a:endParaRPr lang="en-US" sz="1250" dirty="0"/>
          </a:p>
        </p:txBody>
      </p:sp>
      <p:sp>
        <p:nvSpPr>
          <p:cNvPr id="13" name="mrf_kunyeSayi3"/>
          <p:cNvSpPr txBox="1"/>
          <p:nvPr/>
        </p:nvSpPr>
        <p:spPr>
          <a:xfrm>
            <a:off x="8766810" y="3602736"/>
            <a:ext cx="267233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766810" y="4169664"/>
            <a:ext cx="26723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252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dış çağrı</a:t>
            </a:r>
            <a:endParaRPr lang="en-US" sz="1250" dirty="0"/>
          </a:p>
        </p:txBody>
      </p:sp>
      <p:sp>
        <p:nvSpPr>
          <p:cNvPr id="15" name="mrf_urunadi"/>
          <p:cNvSpPr txBox="1"/>
          <p:nvPr/>
        </p:nvSpPr>
        <p:spPr>
          <a:xfrm>
            <a:off x="749808" y="5010912"/>
            <a:ext cx="10689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SmartData BiQuery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1618</Words>
  <Application>Microsoft Office PowerPoint</Application>
  <PresentationFormat>Geniş ekran</PresentationFormat>
  <Paragraphs>300</Paragraphs>
  <Slides>23</Slides>
  <Notes>23</Notes>
  <HiddenSlides>0</HiddenSlides>
  <MMClips>4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32" baseType="lpstr">
      <vt:lpstr>Aptos</vt:lpstr>
      <vt:lpstr>Arial</vt:lpstr>
      <vt:lpstr>Calibri</vt:lpstr>
      <vt:lpstr>Consolas</vt:lpstr>
      <vt:lpstr>Segoe UI</vt:lpstr>
      <vt:lpstr>Segoe UI Black</vt:lpstr>
      <vt:lpstr>Segoe UI Light</vt:lpstr>
      <vt:lpstr>Segoe UI Semibold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SmartData BiQuery — TEKNOFEST 2026</dc:title>
  <dc:subject>PptxGenJS Presentation</dc:subject>
  <dc:creator>SmartData BiQuery</dc:creator>
  <cp:lastModifiedBy>NİSA</cp:lastModifiedBy>
  <cp:revision>7</cp:revision>
  <dcterms:created xsi:type="dcterms:W3CDTF">2026-08-28T05:25:06Z</dcterms:created>
  <dcterms:modified xsi:type="dcterms:W3CDTF">2026-08-28T08:20:09Z</dcterms:modified>
</cp:coreProperties>
</file>